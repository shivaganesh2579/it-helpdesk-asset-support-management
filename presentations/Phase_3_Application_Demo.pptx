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0"/>
            <a:ext cx="4370832" cy="4498848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1078992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82912" y="1517904"/>
            <a:ext cx="1316736" cy="1316736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0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3931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21792"/>
            <a:ext cx="73152" cy="5440680"/>
          </a:xfrm>
          <a:prstGeom prst="rect">
            <a:avLst/>
          </a:prstGeom>
          <a:solidFill>
            <a:srgbClr val="6F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9DB3FF"/>
                </a:solidFill>
                <a:latin typeface="Arial"/>
              </a:defRPr>
            </a:pPr>
            <a:r>
              <a:t>HELIX IT  /  SERVICE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27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39595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C5D1FF"/>
                </a:solidFill>
                <a:latin typeface="Arial"/>
              </a:defRPr>
            </a:pPr>
            <a:r>
              <a:t>PHASE 3 · APPLICATION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5303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0B981"/>
                </a:solidFill>
                <a:latin typeface="Arial"/>
              </a:defRPr>
            </a:pPr>
            <a:r>
              <a:t>PROJECT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6949440" cy="1828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IT Helpdesk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Asset Support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6583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 i="0">
                <a:solidFill>
                  <a:srgbClr val="D8E1F0"/>
                </a:solidFill>
                <a:latin typeface="Arial"/>
              </a:defRPr>
            </a:pPr>
            <a:r>
              <a:t>Working prototype · CRUD workflows · reports · testing · future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5230368"/>
            <a:ext cx="5212080" cy="10972"/>
          </a:xfrm>
          <a:prstGeom prst="rect">
            <a:avLst/>
          </a:prstGeom>
          <a:solidFill>
            <a:srgbClr val="3B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413248"/>
            <a:ext cx="5212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50" b="1" i="0">
                <a:solidFill>
                  <a:srgbClr val="FFFFFF"/>
                </a:solidFill>
                <a:latin typeface="Arial"/>
              </a:defRPr>
            </a:pPr>
            <a:r>
              <a:t>Prepared by Kothuru Shiva Ganesh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742432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AAB6C8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925312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850" b="1" i="0">
                <a:solidFill>
                  <a:srgbClr val="AAB6C8"/>
                </a:solidFill>
                <a:latin typeface="Arial"/>
              </a:defRPr>
            </a:pPr>
            <a:r>
              <a:t>DESIGN  •  DATA  • 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A lightweight local web application connected to a relational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6231"/>
            <a:ext cx="2487168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56231"/>
            <a:ext cx="2487168" cy="10972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21408"/>
            <a:ext cx="22311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10" b="1" i="0">
                <a:solidFill>
                  <a:srgbClr val="4361EE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587752"/>
            <a:ext cx="21945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Browser UI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HTML · CSS · JavaScript · Jinja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3" y="2340864"/>
            <a:ext cx="29260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856231"/>
            <a:ext cx="2487168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856231"/>
            <a:ext cx="24871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2121408"/>
            <a:ext cx="22311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10" b="1" i="0">
                <a:solidFill>
                  <a:srgbClr val="10B981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587752"/>
            <a:ext cx="21945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Flask route handlers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Input validation · workflow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1" y="2340864"/>
            <a:ext cx="29260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1856231"/>
            <a:ext cx="2487168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1856231"/>
            <a:ext cx="248716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21408"/>
            <a:ext cx="22311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10" b="1" i="0">
                <a:solidFill>
                  <a:srgbClr val="F59E0B"/>
                </a:solidFill>
                <a:latin typeface="Arial"/>
              </a:defRPr>
            </a:pPr>
            <a:r>
              <a:t>DATA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87752"/>
            <a:ext cx="21945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sqlite3 connection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Parameterized SQL ·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340864"/>
            <a:ext cx="29260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1856231"/>
            <a:ext cx="2487168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53144" y="1856231"/>
            <a:ext cx="2487168" cy="10972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121408"/>
            <a:ext cx="22311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10" b="1" i="0">
                <a:solidFill>
                  <a:srgbClr val="4361EE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587752"/>
            <a:ext cx="21945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SQLite file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80" b="0" i="0">
                <a:solidFill>
                  <a:srgbClr val="1E293B"/>
                </a:solidFill>
                <a:latin typeface="Arial"/>
              </a:defRPr>
            </a:pPr>
            <a:r>
              <a:t>15 tables · keys · indexes ·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8620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087368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9DB3FF"/>
                </a:solidFill>
                <a:latin typeface="Arial"/>
              </a:defRPr>
            </a:pPr>
            <a:r>
              <a:t>Running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4059936"/>
            <a:ext cx="83393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40" b="0" i="0">
                <a:solidFill>
                  <a:srgbClr val="FFFFFF"/>
                </a:solidFill>
                <a:latin typeface="Arial"/>
              </a:defRPr>
            </a:pPr>
            <a:r>
              <a:t>Python 3.10+ · Flask 3.x · SQLite 3 · local URL http://127.0.0.1:5000 · generated database at instance/helpdesk.db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02352"/>
            <a:ext cx="52578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239512"/>
            <a:ext cx="4892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70" b="1" i="0">
                <a:solidFill>
                  <a:srgbClr val="1E293B"/>
                </a:solidFill>
                <a:latin typeface="Arial"/>
              </a:defRPr>
            </a:pPr>
            <a:r>
              <a:t>MySQL distinction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614416"/>
            <a:ext cx="4892040" cy="182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60" b="0" i="0">
                <a:solidFill>
                  <a:srgbClr val="64748B"/>
                </a:solidFill>
                <a:latin typeface="Arial"/>
              </a:defRPr>
            </a:pPr>
            <a:r>
              <a:t>sql/mysql_schema.sql is a migration/reference script; the running app is SQLite-backed.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5102352"/>
            <a:ext cx="52578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5102352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5239512"/>
            <a:ext cx="4892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70" b="1" i="0">
                <a:solidFill>
                  <a:srgbClr val="1E293B"/>
                </a:solidFill>
                <a:latin typeface="Arial"/>
              </a:defRPr>
            </a:pPr>
            <a:r>
              <a:t>Academic 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5" y="5614416"/>
            <a:ext cx="4892040" cy="182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60" b="0" i="0">
                <a:solidFill>
                  <a:srgbClr val="64748B"/>
                </a:solidFill>
                <a:latin typeface="Arial"/>
              </a:defRPr>
            </a:pPr>
            <a:r>
              <a:t>Synthetic records; no production authentication, email integration or deployment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Overview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dashboard summarizes ticket backlog, urgent work, inventory and warranty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760720" cy="4498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23" y="1536192"/>
            <a:ext cx="4657752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678424"/>
            <a:ext cx="55778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Dashboard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554480"/>
            <a:ext cx="5047488" cy="4224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828800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20" b="1" i="0">
                <a:solidFill>
                  <a:srgbClr val="4361EE"/>
                </a:solidFill>
                <a:latin typeface="Arial"/>
              </a:defRPr>
            </a:pPr>
            <a:r>
              <a:t>WHAT IT SURFACES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28600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267712"/>
            <a:ext cx="41239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Open and urgent ticket counts for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88036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862072"/>
            <a:ext cx="41239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Asset inventory and devices currently in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47472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456432"/>
            <a:ext cx="41239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Warranty watch for approaching expiry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4069079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050791"/>
            <a:ext cx="41239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Recent ticket activity, status and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66344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4645152"/>
            <a:ext cx="41239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Direct entry to ticket creation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Ticket lifecycle — create, assign, update,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Walkthrough example: HD-26013, Finance laptop network issue. The resolution is recorded as demonstration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703320" cy="2944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Ticket_Creation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7560"/>
            <a:ext cx="3520439" cy="19175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160520"/>
            <a:ext cx="3520439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01 · Request details and incident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81328"/>
            <a:ext cx="3703320" cy="2944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Technician_Ass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57560"/>
            <a:ext cx="3520439" cy="19175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43400" y="4160520"/>
            <a:ext cx="3520439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02 · Technician assignment saved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81328"/>
            <a:ext cx="3703320" cy="2944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_Ticket_Resol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57560"/>
            <a:ext cx="3520439" cy="19175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4160520"/>
            <a:ext cx="3520439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03 · Resolution saved and status = 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0916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1947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80" b="1" i="0">
                <a:solidFill>
                  <a:srgbClr val="4361EE"/>
                </a:solidFill>
                <a:latin typeface="Arial"/>
              </a:defRPr>
            </a:pPr>
            <a:r>
              <a:t>DATABASE CONCEPTS DEMONSTRATED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46320"/>
            <a:ext cx="781812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1E293B"/>
                </a:solidFill>
                <a:latin typeface="Arial"/>
              </a:defRPr>
            </a:pPr>
            <a:r>
              <a:t>CREATE: ticket row + initial history  •  READ: ticket detail + asset/requester  •  UPDATE: assignment and valid status transitions  •  RESOLUTION: required text saved to resolutions with timestamps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888736"/>
            <a:ext cx="106984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 i="1">
                <a:solidFill>
                  <a:srgbClr val="64748B"/>
                </a:solidFill>
                <a:latin typeface="Arial"/>
              </a:defRPr>
            </a:pPr>
            <a:r>
              <a:t>The new record is ticket HD-26013; its priority is High and it is linked to asset AST-1001.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Asset inventory and maintenance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Asset lifecycle information is kept separate from the ticket record while related through foreign keys.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53212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Asset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8983"/>
            <a:ext cx="5349240" cy="29137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5239512"/>
            <a:ext cx="53492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Asset inventory — tags, category/model, department, owner, status, warranty and linked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81328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Maintenance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911435"/>
            <a:ext cx="5303520" cy="2888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1072" y="5239512"/>
            <a:ext cx="530352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Maintenance schedule — planned/completed tasks, assigned technician, cost and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669280"/>
            <a:ext cx="5212080" cy="530352"/>
          </a:xfrm>
          <a:prstGeom prst="roundRect">
            <a:avLst>
              <a:gd name="adj" fmla="val 12000"/>
            </a:avLst>
          </a:prstGeom>
          <a:solidFill>
            <a:srgbClr val="E6F8F1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79008"/>
            <a:ext cx="4892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69" b="1" i="0">
                <a:solidFill>
                  <a:srgbClr val="1E293B"/>
                </a:solidFill>
                <a:latin typeface="Arial"/>
              </a:defRPr>
            </a:pPr>
            <a:r>
              <a:t>ASSET INTEGRITY  ·  Unique asset tag; ordered warranty dates; protect assets referenced by tickets.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669280"/>
            <a:ext cx="5212080" cy="53035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779008"/>
            <a:ext cx="48920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869" b="1" i="0">
                <a:solidFill>
                  <a:srgbClr val="1E293B"/>
                </a:solidFill>
                <a:latin typeface="Arial"/>
              </a:defRPr>
            </a:pPr>
            <a:r>
              <a:t>MAINTENANCE INTEGRITY  ·  Non-negative cost; constrained dates and status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Reporting and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Operational reports turn normalized ticket and asset data into actionable lists.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690372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_Report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4028"/>
            <a:ext cx="6720840" cy="3660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5696712"/>
            <a:ext cx="67208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Reports page — open ticket ageing, first assignment, overdue open tickets and recurring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81328"/>
            <a:ext cx="40416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_Ticket_CSV_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632569"/>
            <a:ext cx="3858768" cy="1389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3182112"/>
            <a:ext cx="385876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Exported ticket report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657600"/>
            <a:ext cx="404164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657600"/>
            <a:ext cx="64008" cy="20574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794760"/>
            <a:ext cx="367588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Report query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169664"/>
            <a:ext cx="3675887" cy="14356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30" b="0" i="0">
                <a:solidFill>
                  <a:srgbClr val="64748B"/>
                </a:solidFill>
                <a:latin typeface="Arial"/>
              </a:defRPr>
            </a:pPr>
            <a:r>
              <a:t>JOINs · GROUP BY / HAVING · date-difference calculations · grouped first-assignment lookup · CSV export.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080760"/>
            <a:ext cx="10698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50" b="0" i="1">
                <a:solidFill>
                  <a:srgbClr val="64748B"/>
                </a:solidFill>
                <a:latin typeface="Arial"/>
              </a:defRPr>
            </a:pPr>
            <a:r>
              <a:t>Reports support ageing, response time, workload, asset history, warranty expiry, recurring issues and SLA breaches.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Validation and testing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Observed manual walkthrough and automated tests included in the repository are kept distinct.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07 / 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536192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48840"/>
                <a:gridCol w="5989320"/>
              </a:tblGrid>
              <a:tr h="5543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test</a:t>
                      </a:r>
                    </a:p>
                  </a:txBody>
                  <a:tcPr marL="109728" marR="82296" marT="36576" marB="18288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status</a:t>
                      </a:r>
                    </a:p>
                  </a:txBody>
                  <a:tcPr marL="109728" marR="82296" marT="36576" marB="18288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Observation / expected result</a:t>
                      </a:r>
                    </a:p>
                  </a:txBody>
                  <a:tcPr marL="109728" marR="82296" marT="36576" marB="18288">
                    <a:solidFill>
                      <a:srgbClr val="111827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Dashboard + DB health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 response / dashboard rendered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Create ticket HD-26013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Success message; ticket appears in CSV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Assign technician + update status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Success banners; status changed to In Progress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Record resolution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Success banner; Resolved status and resolution details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Asset search + status filter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AST-1001 search and In Repair filter returned a matching row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Reports + CSV export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Observed in browser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Reports page loaded after template/query fix; CSV opened as table</a:t>
                      </a:r>
                    </a:p>
                  </a:txBody>
                  <a:tcPr marL="109728" marR="82296" marT="36576" marB="18288">
                    <a:solidFill>
                      <a:srgbClr val="F8FA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Duplicate asset tag / invalid transition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tests included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Run test suite and record actual output before final submission</a:t>
                      </a:r>
                    </a:p>
                  </a:txBody>
                  <a:tcPr marL="109728" marR="82296" marT="36576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089904"/>
            <a:ext cx="106984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30" b="1" i="0">
                <a:solidFill>
                  <a:srgbClr val="F45B69"/>
                </a:solidFill>
                <a:latin typeface="Arial"/>
              </a:defRPr>
            </a:pPr>
            <a:r>
              <a:t>Run before submission: `python -m unittest discover -s tests -v` — do not report unexecuted tests as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Conclusion, 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Key takeaways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74066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78308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A local DBMS application now demonstrates ticket creation, assignment, status history, resolution, asset search, maintenance, reports and CSV export.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5005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73177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The relational design separates lookup, user, asset and ticket-history facts and uses PK/FK, UNIQUE, CHECK, NOT NULL and DEFAULT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874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368046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Current limits: no real authentication / role access, email notifications, production hosting or real operational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47438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629150"/>
            <a:ext cx="6592824" cy="93040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Future work: MySQL deployment if required, login and role-based permissions, email/SLA notifications, additional validation and a broader regression suite.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44752"/>
            <a:ext cx="3456432" cy="452628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810512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9DB3FF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40280"/>
            <a:ext cx="2788920" cy="3017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 i="0">
                <a:solidFill>
                  <a:srgbClr val="FFFFFF"/>
                </a:solidFill>
                <a:latin typeface="Arial"/>
              </a:defRPr>
            </a:pPr>
            <a:r>
              <a:t>Before submission: push the latest local reports fix, add screenshots and the three decks to GitHub, run the test suite, record the 5-minute video, and publish its viewer link.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85632" y="5349240"/>
            <a:ext cx="1417320" cy="329184"/>
          </a:xfrm>
          <a:prstGeom prst="roundRect">
            <a:avLst>
              <a:gd name="adj" fmla="val 12000"/>
            </a:avLst>
          </a:prstGeom>
          <a:solidFill>
            <a:srgbClr val="27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5362955"/>
            <a:ext cx="1325880" cy="3017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50" b="1" i="0">
                <a:solidFill>
                  <a:srgbClr val="D1DAFF"/>
                </a:solidFill>
                <a:latin typeface="Arial"/>
              </a:defRPr>
            </a:pPr>
            <a:r>
              <a:t>PROJECT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DBMS Project 39 — IT Helpdesk and Asset Support Management</dc:subject>
  <dc:creator>Kothuru Shiva Ganesh</dc:creator>
  <cp:keywords>DBMS, IT Helpdesk, Asset Management, SQLite, Flask, 3NF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