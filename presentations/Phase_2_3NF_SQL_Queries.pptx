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818120" y="0"/>
            <a:ext cx="4370832" cy="4498848"/>
          </a:xfrm>
          <a:prstGeom prst="roundRect">
            <a:avLst>
              <a:gd name="adj" fmla="val 12000"/>
            </a:avLst>
          </a:prstGeom>
          <a:solidFill>
            <a:srgbClr val="18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1078992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82912" y="1517904"/>
            <a:ext cx="1316736" cy="1316736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41280" y="3200400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0" y="3931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21792"/>
            <a:ext cx="73152" cy="5440680"/>
          </a:xfrm>
          <a:prstGeom prst="rect">
            <a:avLst/>
          </a:prstGeom>
          <a:solidFill>
            <a:srgbClr val="6F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58368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9DB3FF"/>
                </a:solidFill>
                <a:latin typeface="Arial"/>
              </a:defRPr>
            </a:pPr>
            <a:r>
              <a:t>HELIX IT  /  SERVICE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325880"/>
            <a:ext cx="2514600" cy="347472"/>
          </a:xfrm>
          <a:prstGeom prst="roundRect">
            <a:avLst>
              <a:gd name="adj" fmla="val 12000"/>
            </a:avLst>
          </a:prstGeom>
          <a:solidFill>
            <a:srgbClr val="27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39595"/>
            <a:ext cx="24231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00" b="1" i="0">
                <a:solidFill>
                  <a:srgbClr val="C5D1FF"/>
                </a:solidFill>
                <a:latin typeface="Arial"/>
              </a:defRPr>
            </a:pPr>
            <a:r>
              <a:t>PHASE 2 · DATABASE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5303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 i="0">
                <a:solidFill>
                  <a:srgbClr val="10B981"/>
                </a:solidFill>
                <a:latin typeface="Arial"/>
              </a:defRPr>
            </a:pPr>
            <a:r>
              <a:t>PROJECT 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6949440" cy="1828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IT Helpdesk &amp;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Asset Support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15968"/>
            <a:ext cx="65836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 i="0">
                <a:solidFill>
                  <a:srgbClr val="D8E1F0"/>
                </a:solidFill>
                <a:latin typeface="Arial"/>
              </a:defRPr>
            </a:pPr>
            <a:r>
              <a:t>Logical schema · functional dependencies · normalization · SQL reports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5230368"/>
            <a:ext cx="5212080" cy="10972"/>
          </a:xfrm>
          <a:prstGeom prst="rect">
            <a:avLst/>
          </a:prstGeom>
          <a:solidFill>
            <a:srgbClr val="3B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413248"/>
            <a:ext cx="5212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50" b="1" i="0">
                <a:solidFill>
                  <a:srgbClr val="FFFFFF"/>
                </a:solidFill>
                <a:latin typeface="Arial"/>
              </a:defRPr>
            </a:pPr>
            <a:r>
              <a:t>Prepared by Kothuru Shiva Ganesh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742432"/>
            <a:ext cx="6400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50" b="0" i="0">
                <a:solidFill>
                  <a:srgbClr val="AAB6C8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925312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850" b="1" i="0">
                <a:solidFill>
                  <a:srgbClr val="AAB6C8"/>
                </a:solidFill>
                <a:latin typeface="Arial"/>
              </a:defRPr>
            </a:pPr>
            <a:r>
              <a:t>DESIGN  •  DATA  • 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Implementation architecture and DBMS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The running prototype was verified in a local browser using Flask and SQLite.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02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5603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2560320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30" b="1" i="0">
                <a:solidFill>
                  <a:srgbClr val="1E293B"/>
                </a:solidFill>
                <a:latin typeface="Arial"/>
              </a:defRPr>
            </a:pPr>
            <a:r>
              <a:t>WEB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04872"/>
            <a:ext cx="224028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50" b="0" i="0">
                <a:solidFill>
                  <a:srgbClr val="64748B"/>
                </a:solidFill>
                <a:latin typeface="Arial"/>
              </a:defRPr>
            </a:pPr>
            <a:r>
              <a:t>HTML · CSS · Vanilla JS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050" b="0" i="0">
                <a:solidFill>
                  <a:srgbClr val="64748B"/>
                </a:solidFill>
                <a:latin typeface="Arial"/>
              </a:defRPr>
            </a:pPr>
            <a:r>
              <a:t>Jinja 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221992"/>
            <a:ext cx="2926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 i="0">
                <a:solidFill>
                  <a:srgbClr val="4361E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755648"/>
            <a:ext cx="25603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755648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11680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30" b="1" i="0">
                <a:solidFill>
                  <a:srgbClr val="1E293B"/>
                </a:solidFill>
                <a:latin typeface="Arial"/>
              </a:defRPr>
            </a:pPr>
            <a:r>
              <a:t>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404872"/>
            <a:ext cx="224028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50" b="0" i="0">
                <a:solidFill>
                  <a:srgbClr val="64748B"/>
                </a:solidFill>
                <a:latin typeface="Arial"/>
              </a:defRPr>
            </a:pPr>
            <a:r>
              <a:t>Flask routes · validation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050" b="0" i="0">
                <a:solidFill>
                  <a:srgbClr val="64748B"/>
                </a:solidFill>
                <a:latin typeface="Arial"/>
              </a:defRPr>
            </a:pPr>
            <a:r>
              <a:t>SQLite parameterized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221992"/>
            <a:ext cx="2926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 i="0">
                <a:solidFill>
                  <a:srgbClr val="4361E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755648"/>
            <a:ext cx="25603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1755648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011680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30" b="1" i="0">
                <a:solidFill>
                  <a:srgbClr val="1E293B"/>
                </a:solidFill>
                <a:latin typeface="Arial"/>
              </a:defRPr>
            </a:pPr>
            <a:r>
              <a:t>RELATIONAL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404872"/>
            <a:ext cx="224028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50" b="0" i="0">
                <a:solidFill>
                  <a:srgbClr val="64748B"/>
                </a:solidFill>
                <a:latin typeface="Arial"/>
              </a:defRPr>
            </a:pPr>
            <a:r>
              <a:t>SQLite 3 · 15 tables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050" b="0" i="0">
                <a:solidFill>
                  <a:srgbClr val="64748B"/>
                </a:solidFill>
                <a:latin typeface="Arial"/>
              </a:defRPr>
            </a:pPr>
            <a:r>
              <a:t>Foreign keys + indexes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221992"/>
            <a:ext cx="2926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1" i="0">
                <a:solidFill>
                  <a:srgbClr val="4361E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755648"/>
            <a:ext cx="25603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755648"/>
            <a:ext cx="2560320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0032" y="2011680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30" b="1" i="0">
                <a:solidFill>
                  <a:srgbClr val="1E293B"/>
                </a:solidFill>
                <a:latin typeface="Arial"/>
              </a:defRPr>
            </a:pPr>
            <a:r>
              <a:t>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404872"/>
            <a:ext cx="224028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50" b="0" i="0">
                <a:solidFill>
                  <a:srgbClr val="64748B"/>
                </a:solidFill>
                <a:latin typeface="Arial"/>
              </a:defRPr>
            </a:pPr>
            <a:r>
              <a:t>SQL joins · aggregation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050" b="0" i="0">
                <a:solidFill>
                  <a:srgbClr val="64748B"/>
                </a:solidFill>
                <a:latin typeface="Arial"/>
              </a:defRPr>
            </a:pPr>
            <a:r>
              <a:t>Ageing · workload · warranty · 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520440"/>
            <a:ext cx="10936224" cy="91440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712463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4361EE"/>
                </a:solidFill>
                <a:latin typeface="Arial"/>
              </a:defRPr>
            </a:pPr>
            <a:r>
              <a:t>DBMS accuracy note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657600"/>
            <a:ext cx="843076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70" b="0" i="0">
                <a:solidFill>
                  <a:srgbClr val="1E293B"/>
                </a:solidFill>
                <a:latin typeface="Arial"/>
              </a:defRPr>
            </a:pPr>
            <a:r>
              <a:t>SQLite is the active database used by the Flask app (`instance/helpdesk.db`). `sql/mysql_schema.sql` is a MySQL 8 reference/migration artefact, not the DBMS connected to the current UI.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36592"/>
            <a:ext cx="5321808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736592"/>
            <a:ext cx="64008" cy="11247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4873752"/>
            <a:ext cx="49560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1E293B"/>
                </a:solidFill>
                <a:latin typeface="Arial"/>
              </a:defRPr>
            </a:pPr>
            <a:r>
              <a:t>Data integrity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5248656"/>
            <a:ext cx="4956048" cy="5029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70" b="0" i="0">
                <a:solidFill>
                  <a:srgbClr val="64748B"/>
                </a:solidFill>
                <a:latin typeface="Arial"/>
              </a:defRPr>
            </a:pPr>
            <a:r>
              <a:t>Foreign keys enabled, unique keys, CHECK / NOT NULL / DEFAULT constraints and indexed lookup paths.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4736592"/>
            <a:ext cx="5321808" cy="1124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45352" y="4736592"/>
            <a:ext cx="64008" cy="11247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873752"/>
            <a:ext cx="49560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 i="0">
                <a:solidFill>
                  <a:srgbClr val="1E293B"/>
                </a:solidFill>
                <a:latin typeface="Arial"/>
              </a:defRPr>
            </a:pPr>
            <a:r>
              <a:t>Transaction-aware 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248656"/>
            <a:ext cx="4956048" cy="5029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70" b="0" i="0">
                <a:solidFill>
                  <a:srgbClr val="64748B"/>
                </a:solidFill>
                <a:latin typeface="Arial"/>
              </a:defRPr>
            </a:pPr>
            <a:r>
              <a:t>Assignment, status history and resolution updates are performed through server-side SQL operations and application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Logical schema — 15 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Normalization separates independent facts and preserves history without repeating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03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3493008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3493008" cy="512064"/>
          </a:xfrm>
          <a:prstGeom prst="rect">
            <a:avLst/>
          </a:prstGeom>
          <a:solidFill>
            <a:srgbClr val="18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700784"/>
            <a:ext cx="31821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80" b="1" i="0">
                <a:solidFill>
                  <a:srgbClr val="FFFFFF"/>
                </a:solidFill>
                <a:latin typeface="Arial"/>
              </a:defRPr>
            </a:pPr>
            <a:r>
              <a:t>IDENTITY / LOOKUPS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2313432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368296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departments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2788920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843784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3264408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319272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asset_categories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3739896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794759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ticket_categories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4215383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70247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1572768"/>
            <a:ext cx="3493008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1572768"/>
            <a:ext cx="3493008" cy="5120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1700784"/>
            <a:ext cx="31821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80" b="1" i="0">
                <a:solidFill>
                  <a:srgbClr val="FFFFFF"/>
                </a:solidFill>
                <a:latin typeface="Arial"/>
              </a:defRPr>
            </a:pPr>
            <a:r>
              <a:t>ASSET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313432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2368296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assets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88920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2843784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warranties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3264408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319272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maintenance_records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4736" y="1572768"/>
            <a:ext cx="3493008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4736" y="1572768"/>
            <a:ext cx="3493008" cy="5120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3" y="1700784"/>
            <a:ext cx="31821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80" b="1" i="0">
                <a:solidFill>
                  <a:srgbClr val="FFFFFF"/>
                </a:solidFill>
                <a:latin typeface="Arial"/>
              </a:defRPr>
            </a:pPr>
            <a:r>
              <a:t>TICKETS / HISTORY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75904" y="2313432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94776" y="2368296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tickets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75904" y="2788920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94776" y="2843784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incidents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75904" y="3264408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4776" y="3319272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service_requests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75904" y="3739896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94776" y="3794759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support_staff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75904" y="4215383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4776" y="4270247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ticket_assignments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75904" y="4690871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94776" y="4745735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ticket_status_history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75904" y="5166359"/>
            <a:ext cx="3090672" cy="3840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94776" y="5221223"/>
            <a:ext cx="2852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1" i="0">
                <a:solidFill>
                  <a:srgbClr val="1E293B"/>
                </a:solidFill>
                <a:latin typeface="Arial"/>
              </a:defRPr>
            </a:pPr>
            <a:r>
              <a:t>resolutions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6016752"/>
            <a:ext cx="10744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0" i="1">
                <a:solidFill>
                  <a:srgbClr val="64748B"/>
                </a:solidFill>
                <a:latin typeface="Arial"/>
              </a:defRPr>
            </a:pPr>
            <a:r>
              <a:t>Subtype rule: `incidents.ticket_id` and `service_requests.ticket_id` are PK/FK references to `tickets.ticket_id`.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Functional dependencies and 3NF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Illustrative dependencies from docs/DATABASE_DESIGN.md; complete schema is in sql/schema_sqlite.sql.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04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30352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4114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40" b="1" i="0">
                <a:solidFill>
                  <a:srgbClr val="4361EE"/>
                </a:solidFill>
                <a:latin typeface="Arial"/>
              </a:defRPr>
            </a:pPr>
            <a:r>
              <a:t>FUNCTIONAL 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9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176272"/>
            <a:ext cx="4443983" cy="5532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90" b="0" i="0">
                <a:solidFill>
                  <a:srgbClr val="1E293B"/>
                </a:solidFill>
                <a:latin typeface="Arial"/>
              </a:defRPr>
            </a:pPr>
            <a:r>
              <a:t>ticket_id → ticket_number, requester_id, asset_id, category_id, priority_id, status, timestamps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66060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9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747772"/>
            <a:ext cx="4443983" cy="5532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90" b="0" i="0">
                <a:solidFill>
                  <a:srgbClr val="1E293B"/>
                </a:solidFill>
                <a:latin typeface="Arial"/>
              </a:defRPr>
            </a:pPr>
            <a:r>
              <a:t>ticket_number → ticket_id and common ticket attributes (unique alternate key)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9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319272"/>
            <a:ext cx="4443983" cy="5532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90" b="0" i="0">
                <a:solidFill>
                  <a:srgbClr val="1E293B"/>
                </a:solidFill>
                <a:latin typeface="Arial"/>
              </a:defRPr>
            </a:pPr>
            <a:r>
              <a:t>employee_code / email → user identity attributes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09059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9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3890772"/>
            <a:ext cx="4443983" cy="5532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90" b="0" i="0">
                <a:solidFill>
                  <a:srgbClr val="1E293B"/>
                </a:solidFill>
                <a:latin typeface="Arial"/>
              </a:defRPr>
            </a:pPr>
            <a:r>
              <a:t>asset_tag → asset identity, category, department, status and model attributes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59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9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" y="4462272"/>
            <a:ext cx="4443983" cy="5532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90" b="0" i="0">
                <a:solidFill>
                  <a:srgbClr val="1E293B"/>
                </a:solidFill>
                <a:latin typeface="Arial"/>
              </a:defRPr>
            </a:pPr>
            <a:r>
              <a:t>priority_id → priority_name, SLA hours and sort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52059"/>
            <a:ext cx="201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90" b="1" i="0">
                <a:solidFill>
                  <a:srgbClr val="4361EE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5033772"/>
            <a:ext cx="4443983" cy="5532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90" b="0" i="0">
                <a:solidFill>
                  <a:srgbClr val="1E293B"/>
                </a:solidFill>
                <a:latin typeface="Arial"/>
              </a:defRPr>
            </a:pPr>
            <a:r>
              <a:t>ticket_id → resolution record (ticket_id is unique in resolutions)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481328"/>
            <a:ext cx="5458968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75564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40" b="1" i="0">
                <a:solidFill>
                  <a:srgbClr val="10B981"/>
                </a:solidFill>
                <a:latin typeface="Arial"/>
              </a:defRPr>
            </a:pPr>
            <a:r>
              <a:t>NORMALIZATION 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157984"/>
            <a:ext cx="489204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157984"/>
            <a:ext cx="64008" cy="9875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2295144"/>
            <a:ext cx="452627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1NF · Atomic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2670048"/>
            <a:ext cx="452627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90" b="0" i="0">
                <a:solidFill>
                  <a:srgbClr val="64748B"/>
                </a:solidFill>
                <a:latin typeface="Arial"/>
              </a:defRPr>
            </a:pPr>
            <a:r>
              <a:t>No lists of assignees, events, warranty periods or maintenance rows stored in a single field.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310128"/>
            <a:ext cx="489204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310128"/>
            <a:ext cx="64008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3447288"/>
            <a:ext cx="452627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2NF · No partial dependency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3822191"/>
            <a:ext cx="452627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90" b="0" i="0">
                <a:solidFill>
                  <a:srgbClr val="64748B"/>
                </a:solidFill>
                <a:latin typeface="Arial"/>
              </a:defRPr>
            </a:pPr>
            <a:r>
              <a:t>Relations use single-column keys for core entities; subtype attributes depend on the ticket_id key.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462272"/>
            <a:ext cx="489204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462272"/>
            <a:ext cx="64008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4599432"/>
            <a:ext cx="452627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3NF · Separate determinants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4974336"/>
            <a:ext cx="452627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990" b="0" i="0">
                <a:solidFill>
                  <a:srgbClr val="64748B"/>
                </a:solidFill>
                <a:latin typeface="Arial"/>
              </a:defRPr>
            </a:pPr>
            <a:r>
              <a:t>Departments, categories, priorities, staff profiles, resolutions and event histories are stored separately.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Integrity constraints and business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Database-level constraints are complemented by application-level workflow checks.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05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4406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64008" cy="111556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18488"/>
            <a:ext cx="5074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1E293B"/>
                </a:solidFill>
                <a:latin typeface="Arial"/>
              </a:defRPr>
            </a:pPr>
            <a:r>
              <a:t>UNIQUE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93392"/>
            <a:ext cx="5074920" cy="4937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25" b="0" i="0">
                <a:solidFill>
                  <a:srgbClr val="64748B"/>
                </a:solidFill>
                <a:latin typeface="Arial"/>
              </a:defRPr>
            </a:pPr>
            <a:r>
              <a:t>ticket_number, asset_tag, employee_code, email; optional serial_number / warranty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481328"/>
            <a:ext cx="54406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1481328"/>
            <a:ext cx="64008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618488"/>
            <a:ext cx="5074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1E293B"/>
                </a:solidFill>
                <a:latin typeface="Arial"/>
              </a:defRPr>
            </a:pPr>
            <a:r>
              <a:t>NOT NULL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993392"/>
            <a:ext cx="5074920" cy="4937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25" b="0" i="0">
                <a:solidFill>
                  <a:srgbClr val="64748B"/>
                </a:solidFill>
                <a:latin typeface="Arial"/>
              </a:defRPr>
            </a:pPr>
            <a:r>
              <a:t>Required names, ticket title/description, key references and 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52928"/>
            <a:ext cx="54406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64008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90088"/>
            <a:ext cx="5074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1E293B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364992"/>
            <a:ext cx="5074920" cy="4937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25" b="0" i="0">
                <a:solidFill>
                  <a:srgbClr val="64748B"/>
                </a:solidFill>
                <a:latin typeface="Arial"/>
              </a:defRPr>
            </a:pPr>
            <a:r>
              <a:t>Allowed ticket status/type; priority levels; asset/maintenance states; non-negative maintenance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852928"/>
            <a:ext cx="54406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1928" y="2852928"/>
            <a:ext cx="64008" cy="111556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2990088"/>
            <a:ext cx="5074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1E293B"/>
                </a:solidFill>
                <a:latin typeface="Arial"/>
              </a:defRPr>
            </a:pPr>
            <a:r>
              <a:t>FOREIGN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364992"/>
            <a:ext cx="5074920" cy="4937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25" b="0" i="0">
                <a:solidFill>
                  <a:srgbClr val="64748B"/>
                </a:solidFill>
                <a:latin typeface="Arial"/>
              </a:defRPr>
            </a:pPr>
            <a:r>
              <a:t>Users ↔ departments; assets ↔ categories/departments; tickets ↔ requesters, assets, categories and priorities.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224528"/>
            <a:ext cx="54406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224528"/>
            <a:ext cx="64008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361688"/>
            <a:ext cx="5074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1E293B"/>
                </a:solidFill>
                <a:latin typeface="Arial"/>
              </a:defRPr>
            </a:pPr>
            <a:r>
              <a:t>DATE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736592"/>
            <a:ext cx="5074920" cy="4937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25" b="0" i="0">
                <a:solidFill>
                  <a:srgbClr val="64748B"/>
                </a:solidFill>
                <a:latin typeface="Arial"/>
              </a:defRPr>
            </a:pPr>
            <a:r>
              <a:t>Warranty end must be on/after warranty start; date fields must parse as valid dates.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4224528"/>
            <a:ext cx="54406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1928" y="4224528"/>
            <a:ext cx="64008" cy="1115568"/>
          </a:xfrm>
          <a:prstGeom prst="rect">
            <a:avLst/>
          </a:prstGeom>
          <a:solidFill>
            <a:srgbClr val="F4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3096" y="4361688"/>
            <a:ext cx="5074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1E293B"/>
                </a:solidFill>
                <a:latin typeface="Arial"/>
              </a:defRPr>
            </a:pPr>
            <a:r>
              <a:t>WORKFLOW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4736592"/>
            <a:ext cx="5074920" cy="4937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25" b="0" i="0">
                <a:solidFill>
                  <a:srgbClr val="64748B"/>
                </a:solidFill>
                <a:latin typeface="Arial"/>
              </a:defRPr>
            </a:pPr>
            <a:r>
              <a:t>Resolution notes are required before resolve; invalid status transitions are rejected by Flask logic.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60720"/>
            <a:ext cx="10881360" cy="384048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833872"/>
            <a:ext cx="10515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40" b="0" i="0">
                <a:solidFill>
                  <a:srgbClr val="1E293B"/>
                </a:solidFill>
                <a:latin typeface="Arial"/>
              </a:defRPr>
            </a:pPr>
            <a:r>
              <a:t>Indexes cover frequent ticket status/date filters, requester, asset, priority, active assignments, status history, warranty expiry, asset tags and maintenance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SQL queries and report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The script sql/report_queries.sql contains representative joins, aggregation, nested selection and date calculations.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06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08760"/>
            <a:ext cx="349300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64008" cy="166420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45919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10" b="1" i="0">
                <a:solidFill>
                  <a:srgbClr val="1E293B"/>
                </a:solidFill>
                <a:latin typeface="Arial"/>
              </a:defRPr>
            </a:pPr>
            <a:r>
              <a:t>Open-ticket ageing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20824"/>
            <a:ext cx="3127248" cy="10424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10" b="0" i="0">
                <a:solidFill>
                  <a:srgbClr val="64748B"/>
                </a:solidFill>
                <a:latin typeface="Arial"/>
              </a:defRPr>
            </a:pPr>
            <a:r>
              <a:t>JOIN users + priorities; filter unresolved statuses; compute age in days; order by age and priority.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508760"/>
            <a:ext cx="349300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508760"/>
            <a:ext cx="64008" cy="16642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19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10" b="1" i="0">
                <a:solidFill>
                  <a:srgbClr val="1E293B"/>
                </a:solidFill>
                <a:latin typeface="Arial"/>
              </a:defRPr>
            </a:pPr>
            <a:r>
              <a:t>First-assignment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20824"/>
            <a:ext cx="3127248" cy="10424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10" b="0" i="0">
                <a:solidFill>
                  <a:srgbClr val="64748B"/>
                </a:solidFill>
                <a:latin typeface="Arial"/>
              </a:defRPr>
            </a:pPr>
            <a:r>
              <a:t>Aggregate MIN(assigned_at) by ticket; LEFT JOIN to tickets; average elapsed hours.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508760"/>
            <a:ext cx="349300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508760"/>
            <a:ext cx="64008" cy="16642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645919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10" b="1" i="0">
                <a:solidFill>
                  <a:srgbClr val="1E293B"/>
                </a:solidFill>
                <a:latin typeface="Arial"/>
              </a:defRPr>
            </a:pPr>
            <a:r>
              <a:t>Technician 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020824"/>
            <a:ext cx="3127248" cy="10424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10" b="0" i="0">
                <a:solidFill>
                  <a:srgbClr val="64748B"/>
                </a:solidFill>
                <a:latin typeface="Arial"/>
              </a:defRPr>
            </a:pPr>
            <a:r>
              <a:t>GROUP BY support staff; COUNT DISTINCT active and resolved tickets.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56432"/>
            <a:ext cx="349300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456432"/>
            <a:ext cx="64008" cy="166420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93591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10" b="1" i="0">
                <a:solidFill>
                  <a:srgbClr val="1E293B"/>
                </a:solidFill>
                <a:latin typeface="Arial"/>
              </a:defRPr>
            </a:pPr>
            <a:r>
              <a:t>Asset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968496"/>
            <a:ext cx="3127248" cy="10424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10" b="0" i="0">
                <a:solidFill>
                  <a:srgbClr val="64748B"/>
                </a:solidFill>
                <a:latin typeface="Arial"/>
              </a:defRPr>
            </a:pPr>
            <a:r>
              <a:t>LEFT JOIN ticket and maintenance history; aggregate counts and most recent ticket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456432"/>
            <a:ext cx="349300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2" y="3456432"/>
            <a:ext cx="64008" cy="16642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593591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10" b="1" i="0">
                <a:solidFill>
                  <a:srgbClr val="1E293B"/>
                </a:solidFill>
                <a:latin typeface="Arial"/>
              </a:defRPr>
            </a:pPr>
            <a:r>
              <a:t>Warranty expiry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968496"/>
            <a:ext cx="3127248" cy="10424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10" b="0" i="0">
                <a:solidFill>
                  <a:srgbClr val="64748B"/>
                </a:solidFill>
                <a:latin typeface="Arial"/>
              </a:defRPr>
            </a:pPr>
            <a:r>
              <a:t>Join warranties, assets and departments; calculate days remaining / expiring within 90 days.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74736" y="3456432"/>
            <a:ext cx="349300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74736" y="3456432"/>
            <a:ext cx="64008" cy="1664208"/>
          </a:xfrm>
          <a:prstGeom prst="rect">
            <a:avLst/>
          </a:prstGeom>
          <a:solidFill>
            <a:srgbClr val="F4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5904" y="3593591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10" b="1" i="0">
                <a:solidFill>
                  <a:srgbClr val="1E293B"/>
                </a:solidFill>
                <a:latin typeface="Arial"/>
              </a:defRPr>
            </a:pPr>
            <a:r>
              <a:t>Recurring categories + SLA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3968496"/>
            <a:ext cx="3127248" cy="10424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10" b="0" i="0">
                <a:solidFill>
                  <a:srgbClr val="64748B"/>
                </a:solidFill>
                <a:latin typeface="Arial"/>
              </a:defRPr>
            </a:pPr>
            <a:r>
              <a:t>GROUP BY category with HAVING count ≥ 2; identify unresolved tickets past due_at.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5678424"/>
            <a:ext cx="10789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040" b="0" i="1">
                <a:solidFill>
                  <a:srgbClr val="64748B"/>
                </a:solidFill>
                <a:latin typeface="Arial"/>
              </a:defRPr>
            </a:pPr>
            <a:r>
              <a:t>Export evidence: the browser-generated CSV includes ticket number, type, title, status, priority, category, requester and created / due / resolved timestamps.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7772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40" b="1" i="0">
                <a:solidFill>
                  <a:srgbClr val="4361EE"/>
                </a:solidFill>
                <a:latin typeface="Arial"/>
              </a:defRPr>
            </a:pPr>
            <a:r>
              <a:t>HELIX IT   /   PROJECT 39   /  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48056"/>
            <a:ext cx="112471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550" b="1" i="0">
                <a:solidFill>
                  <a:srgbClr val="111827"/>
                </a:solidFill>
                <a:latin typeface="Arial"/>
              </a:defRPr>
            </a:pPr>
            <a:r>
              <a:t>Database prototype — observed reporting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155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120" b="0" i="0">
                <a:solidFill>
                  <a:srgbClr val="64748B"/>
                </a:solidFill>
                <a:latin typeface="Arial"/>
              </a:defRPr>
            </a:pPr>
            <a:r>
              <a:t>These screenshots were captured from the running local prototype; sample records are synthetic.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65408" cy="10972"/>
          </a:xfrm>
          <a:prstGeom prst="rect">
            <a:avLst/>
          </a:prstGeom>
          <a:solidFill>
            <a:srgbClr val="DF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65392"/>
            <a:ext cx="8869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Woxsen University · School of Technology · DBMS PBL · AY 2026–27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80467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750" b="0" i="0">
                <a:solidFill>
                  <a:srgbClr val="64748B"/>
                </a:solidFill>
                <a:latin typeface="Arial"/>
              </a:defRPr>
            </a:pPr>
            <a:r>
              <a:t>07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6858000" cy="4553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_Reports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9048"/>
            <a:ext cx="6675120" cy="36359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705856"/>
            <a:ext cx="667512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19" b="1" i="0">
                <a:solidFill>
                  <a:srgbClr val="64748B"/>
                </a:solidFill>
                <a:latin typeface="Arial"/>
              </a:defRPr>
            </a:pPr>
            <a:r>
              <a:t>Reports &amp; analytics — ageing, first-assignment time, overdue work and recurring 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417320"/>
            <a:ext cx="3977639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2_Ticket_CSV_Ex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602943"/>
            <a:ext cx="3794759" cy="13661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79" y="3163824"/>
            <a:ext cx="3794759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919" b="1" i="0">
                <a:solidFill>
                  <a:srgbClr val="64748B"/>
                </a:solidFill>
                <a:latin typeface="Arial"/>
              </a:defRPr>
            </a:pPr>
            <a:r>
              <a:t>Ticket CSV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657600"/>
            <a:ext cx="3977639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3657600"/>
            <a:ext cx="6400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3794760"/>
            <a:ext cx="361187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Exported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4169664"/>
            <a:ext cx="3611879" cy="1298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019" b="0" i="0">
                <a:solidFill>
                  <a:srgbClr val="64748B"/>
                </a:solidFill>
                <a:latin typeface="Arial"/>
              </a:defRPr>
            </a:pPr>
            <a:r>
              <a:t>Ticket number · type · title · status · priority · category · requester · created / due / resolved timestamps.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080760"/>
            <a:ext cx="10789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890" b="0" i="1">
                <a:solidFill>
                  <a:srgbClr val="64748B"/>
                </a:solidFill>
                <a:latin typeface="Arial"/>
              </a:defRPr>
            </a:pPr>
            <a:r>
              <a:t>Automation note: unit tests are included in tests/test_app.py. Run `python -m unittest discover -s tests -v` before final submission and record the actual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DBMS Project 39 — IT Helpdesk and Asset Support Management</dc:subject>
  <dc:creator>Kothuru Shiva Ganesh</dc:creator>
  <cp:keywords>DBMS, IT Helpdesk, Asset Management, SQLite, Flask, 3NF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