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0"/>
            <a:ext cx="4370832" cy="4498848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1078992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82912" y="1517904"/>
            <a:ext cx="1316736" cy="1316736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0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3931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21792"/>
            <a:ext cx="73152" cy="5440680"/>
          </a:xfrm>
          <a:prstGeom prst="rect">
            <a:avLst/>
          </a:prstGeom>
          <a:solidFill>
            <a:srgbClr val="6F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9DB3FF"/>
                </a:solidFill>
                <a:latin typeface="Arial"/>
              </a:defRPr>
            </a:pPr>
            <a:r>
              <a:t>HELIX IT  /  SERVICE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27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39595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C5D1FF"/>
                </a:solidFill>
                <a:latin typeface="Arial"/>
              </a:defRPr>
            </a:pPr>
            <a:r>
              <a:t>PHASE 1 · ANALYSIS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5303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0B981"/>
                </a:solidFill>
                <a:latin typeface="Arial"/>
              </a:defRPr>
            </a:pPr>
            <a:r>
              <a:t>PROJECT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6949440" cy="1828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IT Helpdesk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Asset Support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6583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 i="0">
                <a:solidFill>
                  <a:srgbClr val="D8E1F0"/>
                </a:solidFill>
                <a:latin typeface="Arial"/>
              </a:defRPr>
            </a:pPr>
            <a:r>
              <a:t>Problem identification · scope · functional requirements · conceptual ER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5230368"/>
            <a:ext cx="5212080" cy="10972"/>
          </a:xfrm>
          <a:prstGeom prst="rect">
            <a:avLst/>
          </a:prstGeom>
          <a:solidFill>
            <a:srgbClr val="3B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413248"/>
            <a:ext cx="5212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50" b="1" i="0">
                <a:solidFill>
                  <a:srgbClr val="FFFFFF"/>
                </a:solidFill>
                <a:latin typeface="Arial"/>
              </a:defRPr>
            </a:pPr>
            <a:r>
              <a:t>Prepared by Kothuru Shiva Ganesh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742432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AAB6C8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925312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850" b="1" i="0">
                <a:solidFill>
                  <a:srgbClr val="AAB6C8"/>
                </a:solidFill>
                <a:latin typeface="Arial"/>
              </a:defRPr>
            </a:pPr>
            <a:r>
              <a:t>DESIGN  •  DATA  • 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Problem statement: fragmented support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Project brief: a relational system to coordinate tickets, assets, people and maintenance.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64008" cy="18288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4591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01  Information is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20824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0" i="0">
                <a:solidFill>
                  <a:srgbClr val="64748B"/>
                </a:solidFill>
                <a:latin typeface="Arial"/>
              </a:defRPr>
            </a:pPr>
            <a:r>
              <a:t>Ticket details, asset ownership, warranties and maintenance history may be recorded separately, making it harder to follow one issue end-to-end.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50876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64591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02  Limited status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020824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0" i="0">
                <a:solidFill>
                  <a:srgbClr val="64748B"/>
                </a:solidFill>
                <a:latin typeface="Arial"/>
              </a:defRPr>
            </a:pPr>
            <a:r>
              <a:t>Email-based support does not inherently provide a consistent queue, assignment history, SLA due date or clear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64591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03  Weak operational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020824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0" i="0">
                <a:solidFill>
                  <a:srgbClr val="64748B"/>
                </a:solidFill>
                <a:latin typeface="Arial"/>
              </a:defRPr>
            </a:pPr>
            <a:r>
              <a:t>Without structured records, it is difficult to report open-ticket ageing, response time, technician load, warranty expiry and recurring issues.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70332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1E293B"/>
                </a:solidFill>
                <a:latin typeface="Arial"/>
              </a:defRPr>
            </a:pPr>
            <a:r>
              <a:t>Core problem to solve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41648"/>
            <a:ext cx="11045952" cy="15087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416552"/>
            <a:ext cx="1037844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 i="0">
                <a:solidFill>
                  <a:srgbClr val="FFFFFF"/>
                </a:solidFill>
                <a:latin typeface="Arial"/>
              </a:defRPr>
            </a:pPr>
            <a:r>
              <a:t>Design a normalized relational database and small application that keeps support work traceable from request creation through assignment, status updates, resolution and asset history.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338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30" b="0" i="1">
                <a:solidFill>
                  <a:srgbClr val="64748B"/>
                </a:solidFill>
                <a:latin typeface="Arial"/>
              </a:defRPr>
            </a:pPr>
            <a:r>
              <a:t>Design target: improve traceability and reporting in a controlled academic prototype; not a production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Objectives, scope and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system is scoped for a small campus / IT department use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5486400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46504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672583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20" b="0" i="0">
                <a:solidFill>
                  <a:srgbClr val="1E293B"/>
                </a:solidFill>
                <a:latin typeface="Arial"/>
              </a:defRPr>
            </a:pPr>
            <a:r>
              <a:t>Centralize incident and service-request records with unique ticket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7121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52928"/>
            <a:ext cx="4672583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20" b="0" i="0">
                <a:solidFill>
                  <a:srgbClr val="1E293B"/>
                </a:solidFill>
                <a:latin typeface="Arial"/>
              </a:defRPr>
            </a:pPr>
            <a:r>
              <a:t>Connect requesters, departments, assets, priorities and support staff through foreign keys.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75304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57016"/>
            <a:ext cx="4672583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20" b="0" i="0">
                <a:solidFill>
                  <a:srgbClr val="1E293B"/>
                </a:solidFill>
                <a:latin typeface="Arial"/>
              </a:defRPr>
            </a:pPr>
            <a:r>
              <a:t>Track assignments, status changes, resolutions, warranties and maintenance history.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279392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61104"/>
            <a:ext cx="4672583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20" b="0" i="0">
                <a:solidFill>
                  <a:srgbClr val="1E293B"/>
                </a:solidFill>
                <a:latin typeface="Arial"/>
              </a:defRPr>
            </a:pPr>
            <a:r>
              <a:t>Enforce input and integrity rules; separate lookup data to support 3NF.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983479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65192"/>
            <a:ext cx="4672583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20" b="0" i="0">
                <a:solidFill>
                  <a:srgbClr val="1E293B"/>
                </a:solidFill>
                <a:latin typeface="Arial"/>
              </a:defRPr>
            </a:pPr>
            <a:r>
              <a:t>Generate operational SQL reports and allow ticket CSV export.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481328"/>
            <a:ext cx="53949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46504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3969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80" b="1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2121408"/>
            <a:ext cx="4581144" cy="377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80" b="0" i="0">
                <a:solidFill>
                  <a:srgbClr val="1E293B"/>
                </a:solidFill>
                <a:latin typeface="Arial"/>
              </a:defRPr>
            </a:pPr>
            <a:r>
              <a:t>Ticket lifecycle and technician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35935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80" b="1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2517647"/>
            <a:ext cx="4581144" cy="377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80" b="0" i="0">
                <a:solidFill>
                  <a:srgbClr val="1E293B"/>
                </a:solidFill>
                <a:latin typeface="Arial"/>
              </a:defRPr>
            </a:pPr>
            <a:r>
              <a:t>Asset inventory, warranty watch and 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3217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80" b="1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2913888"/>
            <a:ext cx="4581144" cy="377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80" b="0" i="0">
                <a:solidFill>
                  <a:srgbClr val="1E293B"/>
                </a:solidFill>
                <a:latin typeface="Arial"/>
              </a:defRPr>
            </a:pPr>
            <a:r>
              <a:t>Dashboard, search, reporting and CSV export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767328"/>
            <a:ext cx="5394960" cy="2267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F59E0B"/>
                </a:solidFill>
                <a:latin typeface="Arial"/>
              </a:defRPr>
            </a:pPr>
            <a:r>
              <a:t>ASSUMPTIONS &amp; EXCLUSIONS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2569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4407408"/>
            <a:ext cx="4581144" cy="423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Synthetic demonstration records; local use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6765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4849368"/>
            <a:ext cx="4581144" cy="423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SQLite is the running DBMS; a MySQL 8 schema is provided as 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0961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5291328"/>
            <a:ext cx="4581144" cy="423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No production login, email integration or production hosting in this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Users and 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Four main user perspectives shape the interface and business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64008" cy="102412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19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1" i="0">
                <a:solidFill>
                  <a:srgbClr val="1E293B"/>
                </a:solidFill>
                <a:latin typeface="Arial"/>
              </a:defRPr>
            </a:pPr>
            <a:r>
              <a:t>Requester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5074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64748B"/>
                </a:solidFill>
                <a:latin typeface="Arial"/>
              </a:defRPr>
            </a:pPr>
            <a:r>
              <a:t>Log an incident or request; see ticket status and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64008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645919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1" i="0">
                <a:solidFill>
                  <a:srgbClr val="1E293B"/>
                </a:solidFill>
                <a:latin typeface="Arial"/>
              </a:defRPr>
            </a:pPr>
            <a:r>
              <a:t>Helpdesk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20824"/>
            <a:ext cx="5074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64748B"/>
                </a:solidFill>
                <a:latin typeface="Arial"/>
              </a:defRPr>
            </a:pPr>
            <a:r>
              <a:t>Triage priority; link an asset; assign or reassign technicians.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64008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80360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1" i="0">
                <a:solidFill>
                  <a:srgbClr val="1E293B"/>
                </a:solidFill>
                <a:latin typeface="Arial"/>
              </a:defRPr>
            </a:pPr>
            <a:r>
              <a:t>Support technician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255264"/>
            <a:ext cx="5074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64748B"/>
                </a:solidFill>
                <a:latin typeface="Arial"/>
              </a:defRPr>
            </a:pPr>
            <a:r>
              <a:t>Review assigned work; update status; record resolution and preventive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43200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743200"/>
            <a:ext cx="64008" cy="1024128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2880360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1" i="0">
                <a:solidFill>
                  <a:srgbClr val="1E293B"/>
                </a:solidFill>
                <a:latin typeface="Arial"/>
              </a:defRPr>
            </a:pPr>
            <a:r>
              <a:t>Asset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255264"/>
            <a:ext cx="5074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64748B"/>
                </a:solidFill>
                <a:latin typeface="Arial"/>
              </a:defRPr>
            </a:pPr>
            <a:r>
              <a:t>Register devices; review owner, warranty, service history and maintenance.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160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4361EE"/>
                </a:solidFill>
                <a:latin typeface="Arial"/>
              </a:defRPr>
            </a:pPr>
            <a:r>
              <a:t>REQUIREMENT REGISTER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3504" y="4462272"/>
          <a:ext cx="10972799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183879"/>
                <a:gridCol w="1691640"/>
              </a:tblGrid>
              <a:tr h="2129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109728" marR="73152" marT="36576" marB="18288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requirement</a:t>
                      </a:r>
                    </a:p>
                  </a:txBody>
                  <a:tcPr marL="109728" marR="73152" marT="36576" marB="18288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109728" marR="73152" marT="36576" marB="18288">
                    <a:solidFill>
                      <a:srgbClr val="111827"/>
                    </a:solidFill>
                  </a:tcPr>
                </a:tc>
              </a:tr>
              <a:tr h="212924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FR-01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Create incidents / service requests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212924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FR-02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Search and inspect tickets and assets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</a:tr>
              <a:tr h="212924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FR-03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Assign technician and log status history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212924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FR-04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Require resolution notes before resolve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</a:tr>
              <a:tr h="212924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FR-05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Track warranty and maintenance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Should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212928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FR-06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Generate reports and CSV export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</a:t>
                      </a:r>
                    </a:p>
                  </a:txBody>
                  <a:tcPr marL="109728" marR="73152" marT="36576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Proposed workflow and control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workflow mirrors the operations that the prototype is built to demonstrate.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4361E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1764792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7712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Requester, type, category, priority, description; optional asset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5" y="2103120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60020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5424" y="1755648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792224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764792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67712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Calculate SLA target from the chosen priority and identify impact / urgency.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103120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60020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39327" y="1755648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E6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1792224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1764792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Assign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267712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Select support staff and record a timestamped assignment event.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3872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36941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730752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4361E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5" y="3703320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206240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Record valid status transitions; keep status-history audit events.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9935" y="4041648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53872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5424" y="36941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E6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3730752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03320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Resolve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06240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Require meaningful resolution notes before moving to Resolved.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041648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4736" y="353872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9327" y="36941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5" y="3730752"/>
            <a:ext cx="3566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3104" y="3703320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40" b="1" i="0">
                <a:solidFill>
                  <a:srgbClr val="1E293B"/>
                </a:solidFill>
                <a:latin typeface="Arial"/>
              </a:defRPr>
            </a:pPr>
            <a:r>
              <a:t>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206240"/>
            <a:ext cx="313639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Use reports for ageing, assignment time, workload, warranties and recurrence.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5715000"/>
            <a:ext cx="10972800" cy="43891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788152"/>
            <a:ext cx="10561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19" b="1" i="0">
                <a:solidFill>
                  <a:srgbClr val="111827"/>
                </a:solidFill>
                <a:latin typeface="Arial"/>
              </a:defRPr>
            </a:pPr>
            <a:r>
              <a:t>Control points: unique ticket numbers • valid status values / transitions • SLA due dates • foreign-key relationships • resolution required before resolve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Conceptual ER model — principal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PK = primary key · FK = foreign key · UK = unique alternate key. Diagram is a conceptual overview; full Mermaid ER source is in docs/ER_DIAGRAM.mmd.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06 / 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057400"/>
            <a:ext cx="1719071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03120" y="2926080"/>
            <a:ext cx="1719071" cy="13716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103120" y="4160520"/>
            <a:ext cx="1719071" cy="9144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89320" y="2057400"/>
            <a:ext cx="160020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3063240"/>
            <a:ext cx="160020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4160520"/>
            <a:ext cx="160020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2057400"/>
            <a:ext cx="77724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55480" y="3063240"/>
            <a:ext cx="77724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55480" y="4160520"/>
            <a:ext cx="777240" cy="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2331720"/>
            <a:ext cx="0" cy="457200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3337560"/>
            <a:ext cx="0" cy="411479"/>
          </a:xfrm>
          <a:prstGeom prst="line">
            <a:avLst/>
          </a:prstGeom>
          <a:ln w="1524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73936" y="2194560"/>
            <a:ext cx="0" cy="292608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17520" y="1883664"/>
            <a:ext cx="329184" cy="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17520" y="1883664"/>
            <a:ext cx="329184" cy="91440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017520" y="1883664"/>
            <a:ext cx="329184" cy="274320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73936" y="3108960"/>
            <a:ext cx="0" cy="292608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90288" y="2194560"/>
            <a:ext cx="0" cy="292608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33872" y="1883664"/>
            <a:ext cx="329184" cy="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33872" y="1883664"/>
            <a:ext cx="329184" cy="274320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06640" y="2194560"/>
            <a:ext cx="0" cy="292608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50224" y="1883664"/>
            <a:ext cx="329184" cy="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50224" y="1883664"/>
            <a:ext cx="329184" cy="914400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50224" y="1883664"/>
            <a:ext cx="329184" cy="1828799"/>
          </a:xfrm>
          <a:prstGeom prst="line">
            <a:avLst/>
          </a:prstGeom>
          <a:ln w="12700">
            <a:solidFill>
              <a:srgbClr val="A6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0352" y="15727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1572768"/>
            <a:ext cx="2487168" cy="237744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15910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DEPARTMENTS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1874519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department_id · UK 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24871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0352" y="2487168"/>
            <a:ext cx="2487168" cy="237744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3" y="25054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27889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user_id · UK employee_code / email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34015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" y="3401568"/>
            <a:ext cx="2487168" cy="237744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3" y="34198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SUPPORT_STAFF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37033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staff_id · FK / UK user_id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" y="43159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" y="4315968"/>
            <a:ext cx="24871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3" y="4334255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ASSET_CATEGORIES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46177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asset_category_id · UK name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6704" y="15727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1572768"/>
            <a:ext cx="24871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9856" y="15910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ASSETS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38144" y="1874519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asset_id · UK asset_tag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46704" y="24871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46704" y="2487168"/>
            <a:ext cx="24871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9856" y="25054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WARRANTIES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38144" y="27889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warranty_id · FK asset_id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46704" y="34015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46704" y="3401568"/>
            <a:ext cx="24871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9856" y="34198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MAINTENANCE_RECORDS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8144" y="37033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maintenance_id · FK asset_id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46704" y="43159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46704" y="43159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19856" y="4334255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TICKET_CATEGORIES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38144" y="46177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ticket_category_id · UK name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6" y="15727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63056" y="15727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15910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TICKETS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1874519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ticket_id · UK ticket_number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63056" y="24871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63056" y="24871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208" y="25054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4496" y="27889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priority_id · UK name · SLA hours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63056" y="34015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63056" y="3401568"/>
            <a:ext cx="2487168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34198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INCIDENTS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37033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/ FK ticket_id · impact / urgency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63056" y="43159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63056" y="4315968"/>
            <a:ext cx="2487168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208" y="4334255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SERVICE_REQUESTS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54496" y="46177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/ FK ticket_id · approval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79408" y="15727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79408" y="15727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52560" y="15910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TICKET_ASSIGNMENTS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70848" y="1874519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assignment_id · FK ticket / staff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79408" y="24871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79408" y="24871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52560" y="25054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TICKET_STATUS_HISTORY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70848" y="27889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history_id · FK ticket / actor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79408" y="3401568"/>
            <a:ext cx="248716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79408" y="3401568"/>
            <a:ext cx="2487168" cy="23774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52560" y="3419856"/>
            <a:ext cx="234086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60" b="1" i="0">
                <a:solidFill>
                  <a:srgbClr val="FFFFFF"/>
                </a:solidFill>
                <a:latin typeface="Arial"/>
              </a:defRPr>
            </a:pPr>
            <a:r>
              <a:t>RESOLUTIONS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70848" y="3703320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30" b="0" i="0">
                <a:solidFill>
                  <a:srgbClr val="1E293B"/>
                </a:solidFill>
                <a:latin typeface="Arial"/>
              </a:defRPr>
            </a:pPr>
            <a:r>
              <a:t>PK resolution_id · UK/FK ticket_id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5230368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1:N: departments→users/assets; asset_categories→assets; assets→warranties/maintenance/tickets; ticket_categories and priorities→tickets; tickets→assignments/status history. Optional 1:1: tickets→incident, service request or resolution; users→support_staff.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77240" y="5870448"/>
            <a:ext cx="1572768" cy="2560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2960" y="5884164"/>
            <a:ext cx="14813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10" b="1" i="0">
                <a:solidFill>
                  <a:srgbClr val="4361EE"/>
                </a:solidFill>
                <a:latin typeface="Arial"/>
              </a:defRPr>
            </a:pPr>
            <a:r>
              <a:t>1:N = one-to-many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487168" y="5870448"/>
            <a:ext cx="2331720" cy="25603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32888" y="5884164"/>
            <a:ext cx="2240279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10" b="1" i="0">
                <a:solidFill>
                  <a:srgbClr val="F59E0B"/>
                </a:solidFill>
                <a:latin typeface="Arial"/>
              </a:defRPr>
            </a:pPr>
            <a:r>
              <a:t>1:0..1 = optional one-to-one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5879592"/>
            <a:ext cx="6217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10" b="0" i="1">
                <a:solidFill>
                  <a:srgbClr val="64748B"/>
                </a:solidFill>
                <a:latin typeface="Arial"/>
              </a:defRPr>
            </a:pPr>
            <a:r>
              <a:t>Exact columns and constraints: sql/schema_sqlite.sql · Full diagram source: docs/ER_DIAGRAM.mmd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Initial relational schema — table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conceptual entities map to 15 relational tables in the SQLite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64008" cy="1828800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9163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Identity &amp; reference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66543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departments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asset_categories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ticket_categories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Assets &amp;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66543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assets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warranties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60" b="0" i="0">
                <a:solidFill>
                  <a:srgbClr val="64748B"/>
                </a:solidFill>
                <a:latin typeface="Arial"/>
              </a:defRPr>
            </a:pPr>
            <a:r>
              <a:t>maintenance_records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64008" cy="18288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691639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Ticket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066543"/>
            <a:ext cx="3154680" cy="12070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tickets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incidents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service_requests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support_staff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ticket_assignments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ticket_status_history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60" b="0" i="0">
                <a:solidFill>
                  <a:srgbClr val="64748B"/>
                </a:solidFill>
                <a:latin typeface="Arial"/>
              </a:defRPr>
            </a:pPr>
            <a:r>
              <a:t>resolutions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94760"/>
            <a:ext cx="1097280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50791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KEY DESIGN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25696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407408"/>
            <a:ext cx="9976104" cy="2682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Single tickets table stores common fields; incidents and service_requests store type-specific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1220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693920"/>
            <a:ext cx="9976104" cy="2682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Ticket assignment and status-history tables preserve repeat events rather than overwriting audit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9872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4980432"/>
            <a:ext cx="9976104" cy="2682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1E293B"/>
                </a:solidFill>
                <a:latin typeface="Arial"/>
              </a:defRPr>
            </a:pPr>
            <a:r>
              <a:t>Lookup tables centralize categories, priorities and SLA hours; FK relationships protect references.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10698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 i="1">
                <a:solidFill>
                  <a:srgbClr val="64748B"/>
                </a:solidFill>
                <a:latin typeface="Arial"/>
              </a:defRPr>
            </a:pPr>
            <a:r>
              <a:t>Primary-key and foreign-key details are finalized and validated in Review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Review 1 — proposed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Key takeaways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74066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78308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Problem statement and measurable objectives defined for the IT helpdesk domain.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5005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73177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Scope covers tickets, assets, warranties, technicians, assignment/status history, resolutions and maintenance.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874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368046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Conceptual ERD and initial relation groups map to the implemented SQLite schema.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4743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62915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Phase 2 will justify normalization, document constraints and demonstrate SQL reporting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44752"/>
            <a:ext cx="3456432" cy="452628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810512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9DB3FF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40280"/>
            <a:ext cx="2788920" cy="3017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FFFFFF"/>
                </a:solidFill>
                <a:latin typeface="Arial"/>
              </a:defRPr>
            </a:pPr>
            <a:r>
              <a:t>Next: prove 3NF, show integrity constraints and capture query outputs from the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85632" y="5349240"/>
            <a:ext cx="1417320" cy="329184"/>
          </a:xfrm>
          <a:prstGeom prst="roundRect">
            <a:avLst>
              <a:gd name="adj" fmla="val 12000"/>
            </a:avLst>
          </a:prstGeom>
          <a:solidFill>
            <a:srgbClr val="27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5362955"/>
            <a:ext cx="1325880" cy="3017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50" b="1" i="0">
                <a:solidFill>
                  <a:srgbClr val="D1DAFF"/>
                </a:solidFill>
                <a:latin typeface="Arial"/>
              </a:defRPr>
            </a:pPr>
            <a:r>
              <a:t>PROJECT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DBMS Project 39 — IT Helpdesk and Asset Support Management</dc:subject>
  <dc:creator>Kothuru Shiva Ganesh</dc:creator>
  <cp:keywords>DBMS, IT Helpdesk, Asset Management, SQLite, Flask, 3NF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